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5" r:id="rId6"/>
    <p:sldId id="260" r:id="rId7"/>
    <p:sldId id="264" r:id="rId8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Untitled Section" id="{788F9F49-1E5A-420F-A824-758EEE76E3D0}">
          <p14:sldIdLst>
            <p14:sldId id="256"/>
            <p14:sldId id="257"/>
            <p14:sldId id="258"/>
            <p14:sldId id="259"/>
            <p14:sldId id="265"/>
            <p14:sldId id="260"/>
            <p14:sldId id="2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7A23"/>
    <a:srgbClr val="E9EBEF"/>
    <a:srgbClr val="387623"/>
    <a:srgbClr val="3857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779F6A6-B735-4C26-9B1E-A9B9B586FD40}">
  <a:tblStyle styleId="{A779F6A6-B735-4C26-9B1E-A9B9B586FD4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2f450b6cf60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2f450b6cf60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f450b6cf60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f450b6cf60_0_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7DC9F6F6-C60A-DE7F-2B9A-64A04DAC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f450b6cf60_0_227:notes">
            <a:extLst>
              <a:ext uri="{FF2B5EF4-FFF2-40B4-BE49-F238E27FC236}">
                <a16:creationId xmlns:a16="http://schemas.microsoft.com/office/drawing/2014/main" id="{7F16F4D0-1DF5-9B2C-A9B1-67D4DFF176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f450b6cf60_0_227:notes">
            <a:extLst>
              <a:ext uri="{FF2B5EF4-FFF2-40B4-BE49-F238E27FC236}">
                <a16:creationId xmlns:a16="http://schemas.microsoft.com/office/drawing/2014/main" id="{C2B76C51-22A3-AB1D-8E79-1EB3E55334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71829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9E9FFCF2-7C89-5E23-6ECF-ED91F8F9D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f450b6cf60_0_227:notes">
            <a:extLst>
              <a:ext uri="{FF2B5EF4-FFF2-40B4-BE49-F238E27FC236}">
                <a16:creationId xmlns:a16="http://schemas.microsoft.com/office/drawing/2014/main" id="{023A9117-7B94-1264-9EFD-E365DDBD66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f450b6cf60_0_227:notes">
            <a:extLst>
              <a:ext uri="{FF2B5EF4-FFF2-40B4-BE49-F238E27FC236}">
                <a16:creationId xmlns:a16="http://schemas.microsoft.com/office/drawing/2014/main" id="{276A08F6-FE48-11A9-B596-5D8A0A83C5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5320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7467DC9B-E615-06DA-6751-7F2D498FC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f450b6cf60_0_227:notes">
            <a:extLst>
              <a:ext uri="{FF2B5EF4-FFF2-40B4-BE49-F238E27FC236}">
                <a16:creationId xmlns:a16="http://schemas.microsoft.com/office/drawing/2014/main" id="{7F939F8C-908A-F015-33D3-3BF82BB734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f450b6cf60_0_227:notes">
            <a:extLst>
              <a:ext uri="{FF2B5EF4-FFF2-40B4-BE49-F238E27FC236}">
                <a16:creationId xmlns:a16="http://schemas.microsoft.com/office/drawing/2014/main" id="{5C1E7264-51C1-7CD3-F639-21E447724B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34854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C97DA275-5287-5CB0-6D08-8EEE05822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f450b6cf60_0_227:notes">
            <a:extLst>
              <a:ext uri="{FF2B5EF4-FFF2-40B4-BE49-F238E27FC236}">
                <a16:creationId xmlns:a16="http://schemas.microsoft.com/office/drawing/2014/main" id="{C88C909A-6DCA-142F-BDEA-7276F23367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f450b6cf60_0_227:notes">
            <a:extLst>
              <a:ext uri="{FF2B5EF4-FFF2-40B4-BE49-F238E27FC236}">
                <a16:creationId xmlns:a16="http://schemas.microsoft.com/office/drawing/2014/main" id="{391744C2-B4E2-D173-E085-1407BDFE46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61430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74121E14-02DD-D864-97B3-A335416BF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f450b6cf60_0_227:notes">
            <a:extLst>
              <a:ext uri="{FF2B5EF4-FFF2-40B4-BE49-F238E27FC236}">
                <a16:creationId xmlns:a16="http://schemas.microsoft.com/office/drawing/2014/main" id="{37AF78CA-0C04-6F40-7A09-712D582EED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f450b6cf60_0_227:notes">
            <a:extLst>
              <a:ext uri="{FF2B5EF4-FFF2-40B4-BE49-F238E27FC236}">
                <a16:creationId xmlns:a16="http://schemas.microsoft.com/office/drawing/2014/main" id="{8B4FEC72-B57E-F055-E62A-EF0BA311A5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4887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536624"/>
            <a:ext cx="8520600" cy="512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68300" algn="just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just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just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just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just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just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just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just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just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 dirty="0"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5486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b="1"/>
            </a:lvl1pPr>
            <a:lvl2pPr lvl="1">
              <a:buNone/>
              <a:defRPr b="1"/>
            </a:lvl2pPr>
            <a:lvl3pPr lvl="2">
              <a:buNone/>
              <a:defRPr b="1"/>
            </a:lvl3pPr>
            <a:lvl4pPr lvl="3">
              <a:buNone/>
              <a:defRPr b="1"/>
            </a:lvl4pPr>
            <a:lvl5pPr lvl="4">
              <a:buNone/>
              <a:defRPr b="1"/>
            </a:lvl5pPr>
            <a:lvl6pPr lvl="5">
              <a:buNone/>
              <a:defRPr b="1"/>
            </a:lvl6pPr>
            <a:lvl7pPr lvl="6">
              <a:buNone/>
              <a:defRPr b="1"/>
            </a:lvl7pPr>
            <a:lvl8pPr lvl="7">
              <a:buNone/>
              <a:defRPr b="1"/>
            </a:lvl8pPr>
            <a:lvl9pPr lvl="8">
              <a:buNone/>
              <a:defRPr b="1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" name="Google Shape;21;p4"/>
          <p:cNvSpPr txBox="1"/>
          <p:nvPr/>
        </p:nvSpPr>
        <p:spPr>
          <a:xfrm>
            <a:off x="0" y="1343925"/>
            <a:ext cx="9144000" cy="219300"/>
          </a:xfrm>
          <a:prstGeom prst="rect">
            <a:avLst/>
          </a:prstGeom>
          <a:solidFill>
            <a:srgbClr val="387A2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683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2200">
                <a:solidFill>
                  <a:schemeClr val="dk1"/>
                </a:solidFill>
              </a:defRPr>
            </a:lvl1pPr>
            <a:lvl2pPr marL="914400" lvl="1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2200">
                <a:solidFill>
                  <a:schemeClr val="dk1"/>
                </a:solidFill>
              </a:defRPr>
            </a:lvl2pPr>
            <a:lvl3pPr marL="1371600" lvl="2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2200">
                <a:solidFill>
                  <a:schemeClr val="dk1"/>
                </a:solidFill>
              </a:defRPr>
            </a:lvl3pPr>
            <a:lvl4pPr marL="1828800" lvl="3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2200">
                <a:solidFill>
                  <a:schemeClr val="dk1"/>
                </a:solidFill>
              </a:defRPr>
            </a:lvl4pPr>
            <a:lvl5pPr marL="2286000" lvl="4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2200">
                <a:solidFill>
                  <a:schemeClr val="dk1"/>
                </a:solidFill>
              </a:defRPr>
            </a:lvl5pPr>
            <a:lvl6pPr marL="2743200" lvl="5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2200">
                <a:solidFill>
                  <a:schemeClr val="dk1"/>
                </a:solidFill>
              </a:defRPr>
            </a:lvl6pPr>
            <a:lvl7pPr marL="3200400" lvl="6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2200">
                <a:solidFill>
                  <a:schemeClr val="dk1"/>
                </a:solidFill>
              </a:defRPr>
            </a:lvl7pPr>
            <a:lvl8pPr marL="3657600" lvl="7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2200">
                <a:solidFill>
                  <a:schemeClr val="dk1"/>
                </a:solidFill>
              </a:defRPr>
            </a:lvl8pPr>
            <a:lvl9pPr marL="4114800" lvl="8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22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800" b="1">
                <a:solidFill>
                  <a:schemeClr val="dk1"/>
                </a:solidFill>
              </a:defRPr>
            </a:lvl1pPr>
            <a:lvl2pPr lvl="1" algn="r">
              <a:buNone/>
              <a:defRPr sz="1800" b="1">
                <a:solidFill>
                  <a:schemeClr val="dk1"/>
                </a:solidFill>
              </a:defRPr>
            </a:lvl2pPr>
            <a:lvl3pPr lvl="2" algn="r">
              <a:buNone/>
              <a:defRPr sz="1800" b="1">
                <a:solidFill>
                  <a:schemeClr val="dk1"/>
                </a:solidFill>
              </a:defRPr>
            </a:lvl3pPr>
            <a:lvl4pPr lvl="3" algn="r">
              <a:buNone/>
              <a:defRPr sz="1800" b="1">
                <a:solidFill>
                  <a:schemeClr val="dk1"/>
                </a:solidFill>
              </a:defRPr>
            </a:lvl4pPr>
            <a:lvl5pPr lvl="4" algn="r">
              <a:buNone/>
              <a:defRPr sz="1800" b="1">
                <a:solidFill>
                  <a:schemeClr val="dk1"/>
                </a:solidFill>
              </a:defRPr>
            </a:lvl5pPr>
            <a:lvl6pPr lvl="5" algn="r">
              <a:buNone/>
              <a:defRPr sz="1800" b="1">
                <a:solidFill>
                  <a:schemeClr val="dk1"/>
                </a:solidFill>
              </a:defRPr>
            </a:lvl6pPr>
            <a:lvl7pPr lvl="6" algn="r">
              <a:buNone/>
              <a:defRPr sz="1800" b="1">
                <a:solidFill>
                  <a:schemeClr val="dk1"/>
                </a:solidFill>
              </a:defRPr>
            </a:lvl7pPr>
            <a:lvl8pPr lvl="7" algn="r">
              <a:buNone/>
              <a:defRPr sz="1800" b="1">
                <a:solidFill>
                  <a:schemeClr val="dk1"/>
                </a:solidFill>
              </a:defRPr>
            </a:lvl8pPr>
            <a:lvl9pPr lvl="8" algn="r">
              <a:buNone/>
              <a:defRPr sz="1800" b="1"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0" y="6666125"/>
            <a:ext cx="9144000" cy="219300"/>
          </a:xfrm>
          <a:prstGeom prst="rect">
            <a:avLst/>
          </a:prstGeom>
          <a:solidFill>
            <a:srgbClr val="387A2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5083277" y="5543119"/>
            <a:ext cx="3749023" cy="9233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US" sz="1800" b="1" dirty="0"/>
              <a:t>Instructor</a:t>
            </a:r>
            <a:r>
              <a:rPr lang="en" sz="1800" b="1" dirty="0"/>
              <a:t>:</a:t>
            </a:r>
          </a:p>
          <a:p>
            <a:pPr marL="0" lvl="0" indent="0" algn="l"/>
            <a:r>
              <a:rPr lang="en" sz="1800" dirty="0"/>
              <a:t>	</a:t>
            </a:r>
            <a:r>
              <a:rPr lang="en-US" sz="1800" dirty="0"/>
              <a:t>Nguyễn Thành An, MSc.</a:t>
            </a:r>
            <a:endParaRPr sz="1800" dirty="0"/>
          </a:p>
        </p:txBody>
      </p:sp>
      <p:sp>
        <p:nvSpPr>
          <p:cNvPr id="58" name="Google Shape;58;p13"/>
          <p:cNvSpPr txBox="1"/>
          <p:nvPr/>
        </p:nvSpPr>
        <p:spPr>
          <a:xfrm>
            <a:off x="78658" y="1683162"/>
            <a:ext cx="9144000" cy="2308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-US" sz="4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 </a:t>
            </a:r>
          </a:p>
          <a:p>
            <a:pPr algn="ctr"/>
            <a:r>
              <a:rPr lang="en-US" sz="4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</a:t>
            </a:r>
          </a:p>
          <a:p>
            <a:pPr algn="ctr"/>
            <a:r>
              <a:rPr lang="en-US" sz="4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(503043)</a:t>
            </a:r>
            <a:endParaRPr lang="en-US" sz="4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2290" y="391551"/>
            <a:ext cx="1859420" cy="115128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5BB5630-220C-72CE-E919-64B602FFBC4B}"/>
              </a:ext>
            </a:extLst>
          </p:cNvPr>
          <p:cNvSpPr txBox="1"/>
          <p:nvPr/>
        </p:nvSpPr>
        <p:spPr>
          <a:xfrm>
            <a:off x="476864" y="4244067"/>
            <a:ext cx="83475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MIDTERM PRESENTATION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85F096-CEF3-2370-6EE2-0F006BB95340}"/>
              </a:ext>
            </a:extLst>
          </p:cNvPr>
          <p:cNvSpPr txBox="1"/>
          <p:nvPr/>
        </p:nvSpPr>
        <p:spPr>
          <a:xfrm>
            <a:off x="3948214" y="5019898"/>
            <a:ext cx="1553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Group: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1266895" y="586966"/>
            <a:ext cx="661021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/>
              <a:t>Team Members &amp; Contribution Rates</a:t>
            </a:r>
            <a:endParaRPr dirty="0"/>
          </a:p>
        </p:txBody>
      </p:sp>
      <p:sp>
        <p:nvSpPr>
          <p:cNvPr id="66" name="Google Shape;66;p14"/>
          <p:cNvSpPr txBox="1">
            <a:spLocks noGrp="1"/>
          </p:cNvSpPr>
          <p:nvPr>
            <p:ph type="sldNum" idx="12"/>
          </p:nvPr>
        </p:nvSpPr>
        <p:spPr>
          <a:xfrm>
            <a:off x="85486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3" name="Google Shape;60;p13">
            <a:extLst>
              <a:ext uri="{FF2B5EF4-FFF2-40B4-BE49-F238E27FC236}">
                <a16:creationId xmlns:a16="http://schemas.microsoft.com/office/drawing/2014/main" id="{C8B68B66-563D-B4D7-BE6C-2462A195F95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524541"/>
            <a:ext cx="1266895" cy="763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AFB3956-ECD2-A26C-1ABE-42A6AB4F01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4198155"/>
              </p:ext>
            </p:extLst>
          </p:nvPr>
        </p:nvGraphicFramePr>
        <p:xfrm>
          <a:off x="216310" y="1887793"/>
          <a:ext cx="8711382" cy="3512084"/>
        </p:xfrm>
        <a:graphic>
          <a:graphicData uri="http://schemas.openxmlformats.org/drawingml/2006/table">
            <a:tbl>
              <a:tblPr firstRow="1" bandRow="1">
                <a:tableStyleId>{A779F6A6-B735-4C26-9B1E-A9B9B586FD40}</a:tableStyleId>
              </a:tblPr>
              <a:tblGrid>
                <a:gridCol w="563109">
                  <a:extLst>
                    <a:ext uri="{9D8B030D-6E8A-4147-A177-3AD203B41FA5}">
                      <a16:colId xmlns:a16="http://schemas.microsoft.com/office/drawing/2014/main" val="3553202372"/>
                    </a:ext>
                  </a:extLst>
                </a:gridCol>
                <a:gridCol w="1029718">
                  <a:extLst>
                    <a:ext uri="{9D8B030D-6E8A-4147-A177-3AD203B41FA5}">
                      <a16:colId xmlns:a16="http://schemas.microsoft.com/office/drawing/2014/main" val="3588444142"/>
                    </a:ext>
                  </a:extLst>
                </a:gridCol>
                <a:gridCol w="1809134">
                  <a:extLst>
                    <a:ext uri="{9D8B030D-6E8A-4147-A177-3AD203B41FA5}">
                      <a16:colId xmlns:a16="http://schemas.microsoft.com/office/drawing/2014/main" val="2310590863"/>
                    </a:ext>
                  </a:extLst>
                </a:gridCol>
                <a:gridCol w="2104103">
                  <a:extLst>
                    <a:ext uri="{9D8B030D-6E8A-4147-A177-3AD203B41FA5}">
                      <a16:colId xmlns:a16="http://schemas.microsoft.com/office/drawing/2014/main" val="3743674669"/>
                    </a:ext>
                  </a:extLst>
                </a:gridCol>
                <a:gridCol w="1965941">
                  <a:extLst>
                    <a:ext uri="{9D8B030D-6E8A-4147-A177-3AD203B41FA5}">
                      <a16:colId xmlns:a16="http://schemas.microsoft.com/office/drawing/2014/main" val="1488916359"/>
                    </a:ext>
                  </a:extLst>
                </a:gridCol>
                <a:gridCol w="1239377">
                  <a:extLst>
                    <a:ext uri="{9D8B030D-6E8A-4147-A177-3AD203B41FA5}">
                      <a16:colId xmlns:a16="http://schemas.microsoft.com/office/drawing/2014/main" val="1962855990"/>
                    </a:ext>
                  </a:extLst>
                </a:gridCol>
              </a:tblGrid>
              <a:tr h="8138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Student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Full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Academic Email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Assigned Responsibilities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Completion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2703506"/>
                  </a:ext>
                </a:extLst>
              </a:tr>
              <a:tr h="94224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524H0121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Lê </a:t>
                      </a:r>
                      <a:r>
                        <a:rPr lang="en-US" dirty="0" err="1"/>
                        <a:t>Phú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524h0102@student.tdtu.edu.vn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/>
                        <a:t>Algorithm Core &amp; Strategy (req 2,5,7)</a:t>
                      </a:r>
                    </a:p>
                    <a:p>
                      <a:pPr algn="l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105627"/>
                  </a:ext>
                </a:extLst>
              </a:tr>
              <a:tr h="8138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524H0095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Vũ Giang Huy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524h0095@student.tdtu.edu.vn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Modeling &amp; Experiments(req 1,3,4)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007172"/>
                  </a:ext>
                </a:extLst>
              </a:tr>
              <a:tr h="94224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524H0102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Lê Hoàng Minh Khôi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524h0102@student.tdtu.edu.vn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Competitive Engine, GUI &amp; Presentation (req 6,8, task2)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843774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2D74E79D-1410-C83E-4EFB-7DD94B7B4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ABD20F21-AF0B-73FF-4C35-6C0BC1D3AD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6894" y="586966"/>
            <a:ext cx="7493648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Single-Agent Search &amp; Non-Manhattan Heuristic</a:t>
            </a:r>
            <a:endParaRPr dirty="0"/>
          </a:p>
        </p:txBody>
      </p:sp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61E64B36-3E4C-5AFC-46CA-3300CE07F43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486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pic>
        <p:nvPicPr>
          <p:cNvPr id="3" name="Google Shape;60;p13">
            <a:extLst>
              <a:ext uri="{FF2B5EF4-FFF2-40B4-BE49-F238E27FC236}">
                <a16:creationId xmlns:a16="http://schemas.microsoft.com/office/drawing/2014/main" id="{42191CA5-7065-4A2E-2E52-A87BC7EB22E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524541"/>
            <a:ext cx="1266895" cy="7635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3690D01-971B-73FC-D8BD-A44838156C8B}"/>
                  </a:ext>
                </a:extLst>
              </p:cNvPr>
              <p:cNvSpPr txBox="1"/>
              <p:nvPr/>
            </p:nvSpPr>
            <p:spPr>
              <a:xfrm>
                <a:off x="110557" y="1786486"/>
                <a:ext cx="2834205" cy="24622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b="1" dirty="0"/>
                  <a:t>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b="1" dirty="0"/>
                  <a:t>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0"/>
                        </m:ctrlPr>
                      </m:dPr>
                      <m:e>
                        <m:r>
                          <m:rPr>
                            <m:nor/>
                          </m:rPr>
                          <a:rPr lang="en-US" i="0"/>
                          <m:t>Agent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i="0"/>
                          <m:t>Boxes</m:t>
                        </m:r>
                      </m:e>
                    </m:d>
                  </m:oMath>
                </a14:m>
                <a:r>
                  <a:rPr lang="en-US" dirty="0"/>
                  <a:t>with coordinates canonically sorted.</a:t>
                </a:r>
              </a:p>
              <a:p>
                <a:pPr lvl="0"/>
                <a:endParaRPr lang="en-US" dirty="0"/>
              </a:p>
              <a:p>
                <a:pPr lvl="0"/>
                <a:r>
                  <a:rPr lang="en-US" b="1" dirty="0"/>
                  <a:t>Actions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b="1" dirty="0"/>
                  <a:t>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0"/>
                        </m:ctrlPr>
                      </m:dPr>
                      <m:e>
                        <m:r>
                          <m:rPr>
                            <m:nor/>
                          </m:rPr>
                          <a:rPr lang="en-US" i="0"/>
                          <m:t>North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i="0"/>
                          <m:t>South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i="0"/>
                          <m:t>West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i="0"/>
                          <m:t>East</m:t>
                        </m:r>
                      </m:e>
                    </m:d>
                  </m:oMath>
                </a14:m>
                <a:r>
                  <a:rPr lang="en-US" dirty="0"/>
                  <a:t>. </a:t>
                </a:r>
              </a:p>
              <a:p>
                <a:pPr lvl="0"/>
                <a:endParaRPr lang="en-US" dirty="0"/>
              </a:p>
              <a:p>
                <a:pPr lvl="0"/>
                <a:r>
                  <a:rPr lang="en-US" b="1" dirty="0"/>
                  <a:t>Transition:</a:t>
                </a:r>
                <a:r>
                  <a:rPr lang="en-US" dirty="0"/>
                  <a:t> Unit step cost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; boxes </a:t>
                </a:r>
                <a:r>
                  <a:rPr lang="en-US" dirty="0" err="1"/>
                  <a:t>pushable</a:t>
                </a:r>
                <a:r>
                  <a:rPr lang="en-US" dirty="0"/>
                  <a:t> if target cell is empty.</a:t>
                </a:r>
              </a:p>
              <a:p>
                <a:pPr lvl="0"/>
                <a:endParaRPr lang="en-US" dirty="0"/>
              </a:p>
              <a:p>
                <a:pPr lvl="0"/>
                <a:r>
                  <a:rPr lang="en-US" b="1" dirty="0"/>
                  <a:t>Goal Test: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/>
                      <m:t>set</m:t>
                    </m:r>
                    <m:d>
                      <m:dPr>
                        <m:ctrlPr>
                          <a:rPr lang="en-US" i="0"/>
                        </m:ctrlPr>
                      </m:dPr>
                      <m:e>
                        <m:r>
                          <m:rPr>
                            <m:nor/>
                          </m:rPr>
                          <a:rPr lang="en-US" i="0"/>
                          <m:t>Boxes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==</m:t>
                    </m:r>
                    <m:r>
                      <m:rPr>
                        <m:nor/>
                      </m:rPr>
                      <a:rPr lang="en-US" i="0"/>
                      <m:t>Goals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3690D01-971B-73FC-D8BD-A44838156C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57" y="1786486"/>
                <a:ext cx="2834205" cy="2462213"/>
              </a:xfrm>
              <a:prstGeom prst="rect">
                <a:avLst/>
              </a:prstGeom>
              <a:blipFill>
                <a:blip r:embed="rId4"/>
                <a:stretch>
                  <a:fillRect l="-645" t="-495" b="-17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BD55B0B-DC18-DB2E-6D1B-3DA4CFD5D676}"/>
                  </a:ext>
                </a:extLst>
              </p:cNvPr>
              <p:cNvSpPr txBox="1"/>
              <p:nvPr/>
            </p:nvSpPr>
            <p:spPr>
              <a:xfrm>
                <a:off x="2998840" y="1786487"/>
                <a:ext cx="6145160" cy="33239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function PRECOMPUTE-MAZE-DISTANCES(goals, map) returns </a:t>
                </a:r>
                <a:r>
                  <a:rPr lang="en-US" dirty="0" err="1"/>
                  <a:t>dist_table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       </a:t>
                </a:r>
                <a:r>
                  <a:rPr lang="en-US" dirty="0" err="1"/>
                  <a:t>dist_table</a:t>
                </a:r>
                <a:r>
                  <a:rPr lang="en-US" dirty="0"/>
                  <a:t> ← empty table </a:t>
                </a:r>
              </a:p>
              <a:p>
                <a:r>
                  <a:rPr lang="en-US" dirty="0"/>
                  <a:t>       for each g in goals do </a:t>
                </a:r>
              </a:p>
              <a:p>
                <a:r>
                  <a:rPr lang="en-US" dirty="0"/>
                  <a:t>	queue ← FIFO queue with g, </a:t>
                </a:r>
                <a:r>
                  <a:rPr lang="en-US" dirty="0" err="1"/>
                  <a:t>dist_table</a:t>
                </a:r>
                <a:r>
                  <a:rPr lang="en-US" dirty="0"/>
                  <a:t>[g, g] ← 0 </a:t>
                </a:r>
              </a:p>
              <a:p>
                <a:r>
                  <a:rPr lang="en-US" dirty="0"/>
                  <a:t>	while not EMPTY?(queue) do </a:t>
                </a:r>
              </a:p>
              <a:p>
                <a:r>
                  <a:rPr lang="en-US" dirty="0"/>
                  <a:t>	       u ← POP-FIRST(queue) </a:t>
                </a:r>
              </a:p>
              <a:p>
                <a:r>
                  <a:rPr lang="en-US" dirty="0"/>
                  <a:t>	       for each v in NEIGHBORS(u, map) do </a:t>
                </a:r>
              </a:p>
              <a:p>
                <a:r>
                  <a:rPr lang="en-US" dirty="0"/>
                  <a:t>		if v not in </a:t>
                </a:r>
                <a:r>
                  <a:rPr lang="en-US" dirty="0" err="1"/>
                  <a:t>dist_table</a:t>
                </a:r>
                <a:r>
                  <a:rPr lang="en-US" dirty="0"/>
                  <a:t>[g] then </a:t>
                </a:r>
              </a:p>
              <a:p>
                <a:r>
                  <a:rPr lang="en-US" dirty="0"/>
                  <a:t>		       </a:t>
                </a:r>
                <a:r>
                  <a:rPr lang="en-US" dirty="0" err="1"/>
                  <a:t>dist_table</a:t>
                </a:r>
                <a:r>
                  <a:rPr lang="en-US" dirty="0"/>
                  <a:t>[g, v] ← </a:t>
                </a:r>
                <a:r>
                  <a:rPr lang="en-US" dirty="0" err="1"/>
                  <a:t>dist_table</a:t>
                </a:r>
                <a:r>
                  <a:rPr lang="en-US" dirty="0"/>
                  <a:t>[g, u] + 1 </a:t>
                </a:r>
              </a:p>
              <a:p>
                <a:r>
                  <a:rPr lang="en-US" dirty="0"/>
                  <a:t>		       queue ← APPEND(queue, v) </a:t>
                </a:r>
              </a:p>
              <a:p>
                <a:r>
                  <a:rPr lang="en-US" dirty="0"/>
                  <a:t>       return </a:t>
                </a:r>
                <a:r>
                  <a:rPr lang="en-US" dirty="0" err="1"/>
                  <a:t>dist_table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function HEURISTIC(state, goals, </a:t>
                </a:r>
                <a:r>
                  <a:rPr lang="en-US" dirty="0" err="1"/>
                  <a:t>dist_table</a:t>
                </a:r>
                <a:r>
                  <a:rPr lang="en-US" dirty="0"/>
                  <a:t>) returns </a:t>
                </a:r>
                <a:r>
                  <a:rPr lang="en-US" dirty="0" err="1"/>
                  <a:t>estimated_cost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       if IS-DEADLOCK(state) then return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       C ← cost matrix where C[</a:t>
                </a:r>
                <a:r>
                  <a:rPr lang="en-US" dirty="0" err="1"/>
                  <a:t>i</a:t>
                </a:r>
                <a:r>
                  <a:rPr lang="en-US" dirty="0"/>
                  <a:t>, j] = </a:t>
                </a:r>
                <a:r>
                  <a:rPr lang="en-US" dirty="0" err="1"/>
                  <a:t>dist_table</a:t>
                </a:r>
                <a:r>
                  <a:rPr lang="en-US" dirty="0"/>
                  <a:t>[</a:t>
                </a:r>
                <a:r>
                  <a:rPr lang="en-US" dirty="0" err="1"/>
                  <a:t>goal_j</a:t>
                </a:r>
                <a:r>
                  <a:rPr lang="en-US" dirty="0"/>
                  <a:t>, </a:t>
                </a:r>
                <a:r>
                  <a:rPr lang="en-US" dirty="0" err="1"/>
                  <a:t>box_i</a:t>
                </a:r>
                <a:r>
                  <a:rPr lang="en-US" dirty="0"/>
                  <a:t>]</a:t>
                </a:r>
              </a:p>
              <a:p>
                <a:r>
                  <a:rPr lang="en-US" dirty="0"/>
                  <a:t>       return MIN-WEIGHT-MATCHING(C)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BD55B0B-DC18-DB2E-6D1B-3DA4CFD5D6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8840" y="1786487"/>
                <a:ext cx="6145160" cy="3323987"/>
              </a:xfrm>
              <a:prstGeom prst="rect">
                <a:avLst/>
              </a:prstGeom>
              <a:blipFill>
                <a:blip r:embed="rId5"/>
                <a:stretch>
                  <a:fillRect l="-298" t="-367" r="-99" b="-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E3C2504-D114-5A96-17B3-B9EC54DC5A54}"/>
                  </a:ext>
                </a:extLst>
              </p:cNvPr>
              <p:cNvSpPr txBox="1"/>
              <p:nvPr/>
            </p:nvSpPr>
            <p:spPr>
              <a:xfrm>
                <a:off x="164629" y="5310421"/>
                <a:ext cx="8979371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buNone/>
                </a:pPr>
                <a:r>
                  <a:rPr lang="en-US" b="1" dirty="0">
                    <a:effectLst/>
                    <a:latin typeface="Arial"/>
                  </a:rPr>
                  <a:t>Theoretical Proofs:</a:t>
                </a:r>
                <a:endParaRPr lang="en-US" dirty="0">
                  <a:effectLst/>
                  <a:latin typeface="Arial"/>
                </a:endParaRPr>
              </a:p>
              <a:p>
                <a:pPr marL="0" marR="0" lvl="0" indent="-342900">
                  <a:buFont typeface="Arial" panose="020B0604020202020204" pitchFamily="34" charset="0"/>
                  <a:buChar char="•"/>
                </a:pPr>
                <a:r>
                  <a:rPr lang="en-US" b="1" dirty="0">
                    <a:effectLst/>
                    <a:latin typeface="Arial"/>
                  </a:rPr>
                  <a:t>Admissibility 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US" i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b="1" dirty="0">
                    <a:effectLst/>
                    <a:latin typeface="Arial"/>
                  </a:rPr>
                  <a:t>):</a:t>
                </a:r>
                <a:r>
                  <a:rPr lang="en-US" dirty="0">
                    <a:effectLst/>
                    <a:latin typeface="Arial"/>
                  </a:rPr>
                  <a:t> Disregards dynamic box collisions and computes minimal bipartite assignment to goals, forming a strict lower bound of actual push steps.</a:t>
                </a:r>
              </a:p>
              <a:p>
                <a:pPr marL="0" marR="0" lvl="0" indent="-342900">
                  <a:buFont typeface="Arial" panose="020B0604020202020204" pitchFamily="34" charset="0"/>
                  <a:buChar char="•"/>
                </a:pPr>
                <a:r>
                  <a:rPr lang="en-US" b="1" dirty="0">
                    <a:effectLst/>
                    <a:latin typeface="Arial"/>
                  </a:rPr>
                  <a:t>Consistency 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</m:oMath>
                </a14:m>
                <a:r>
                  <a:rPr lang="en-US" b="1" dirty="0">
                    <a:effectLst/>
                    <a:latin typeface="Arial"/>
                  </a:rPr>
                  <a:t>):</a:t>
                </a:r>
                <a:r>
                  <a:rPr lang="en-US" dirty="0">
                    <a:effectLst/>
                    <a:latin typeface="Arial"/>
                  </a:rPr>
                  <a:t> Agent moves keep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lang="en-US" dirty="0">
                    <a:effectLst/>
                    <a:latin typeface="Arial"/>
                  </a:rPr>
                  <a:t>constant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=0≤1</m:t>
                    </m:r>
                  </m:oMath>
                </a14:m>
                <a:r>
                  <a:rPr lang="en-US" dirty="0">
                    <a:effectLst/>
                    <a:latin typeface="Arial"/>
                  </a:rPr>
                  <a:t>); a single box push decreases maze distance by at most 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</m:oMath>
                </a14:m>
                <a:r>
                  <a:rPr lang="en-US" dirty="0">
                    <a:effectLst/>
                    <a:latin typeface="Arial"/>
                  </a:rPr>
                  <a:t>. Triangle inequality holds.</a:t>
                </a:r>
                <a:endParaRPr lang="en-US" dirty="0">
                  <a:effectLst/>
                  <a:latin typeface="Google Sans Text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E3C2504-D114-5A96-17B3-B9EC54DC5A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629" y="5310421"/>
                <a:ext cx="8979371" cy="1169551"/>
              </a:xfrm>
              <a:prstGeom prst="rect">
                <a:avLst/>
              </a:prstGeom>
              <a:blipFill>
                <a:blip r:embed="rId6"/>
                <a:stretch>
                  <a:fillRect l="-204" t="-1042" b="-4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A95FC71-59B5-0F9B-22FC-06041FD64FF8}"/>
              </a:ext>
            </a:extLst>
          </p:cNvPr>
          <p:cNvCxnSpPr/>
          <p:nvPr/>
        </p:nvCxnSpPr>
        <p:spPr>
          <a:xfrm>
            <a:off x="2944762" y="1786487"/>
            <a:ext cx="0" cy="347472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F44AC11-0394-6675-84A7-6418F7A5FC37}"/>
              </a:ext>
            </a:extLst>
          </p:cNvPr>
          <p:cNvCxnSpPr>
            <a:cxnSpLocks/>
          </p:cNvCxnSpPr>
          <p:nvPr/>
        </p:nvCxnSpPr>
        <p:spPr>
          <a:xfrm rot="16200000">
            <a:off x="2443805" y="3112367"/>
            <a:ext cx="0" cy="429768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3289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AA7E3282-53AB-D91D-0F87-8548FA375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B40ABC22-3B92-B181-C1C4-7DEB89B592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6895" y="586966"/>
            <a:ext cx="661021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A*Graph Search with Deadlock Pruning</a:t>
            </a:r>
            <a:endParaRPr dirty="0"/>
          </a:p>
        </p:txBody>
      </p:sp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4CE4F11C-4E6D-13C2-C2B6-370FAAB76CB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486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3" name="Google Shape;60;p13">
            <a:extLst>
              <a:ext uri="{FF2B5EF4-FFF2-40B4-BE49-F238E27FC236}">
                <a16:creationId xmlns:a16="http://schemas.microsoft.com/office/drawing/2014/main" id="{51C67520-BE6C-107A-8CC5-1F59F0C13C9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524541"/>
            <a:ext cx="1266895" cy="7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6FE6C0-F900-4BD5-F039-C859E4D4E4AB}"/>
              </a:ext>
            </a:extLst>
          </p:cNvPr>
          <p:cNvSpPr txBox="1"/>
          <p:nvPr/>
        </p:nvSpPr>
        <p:spPr>
          <a:xfrm>
            <a:off x="196643" y="1812791"/>
            <a:ext cx="879003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dirty="0"/>
              <a:t>function A-STAR-SEARCH(problem, h) returns a solution, or failure </a:t>
            </a:r>
          </a:p>
          <a:p>
            <a:pPr lvl="0"/>
            <a:r>
              <a:rPr lang="en-US" dirty="0"/>
              <a:t>       node ← a node with STATE = </a:t>
            </a:r>
            <a:r>
              <a:rPr lang="en-US" dirty="0" err="1"/>
              <a:t>problem.INITIAL</a:t>
            </a:r>
            <a:r>
              <a:rPr lang="en-US" dirty="0"/>
              <a:t>-STATE, PATH-COST = 0</a:t>
            </a:r>
          </a:p>
          <a:p>
            <a:pPr lvl="0"/>
            <a:r>
              <a:rPr lang="en-US" dirty="0"/>
              <a:t>       frontier ← a priority queue ordered by f(n) = PATH-COST + h(</a:t>
            </a:r>
            <a:r>
              <a:rPr lang="en-US" dirty="0" err="1"/>
              <a:t>n.STATE</a:t>
            </a:r>
            <a:r>
              <a:rPr lang="en-US" dirty="0"/>
              <a:t>)</a:t>
            </a:r>
          </a:p>
          <a:p>
            <a:pPr lvl="0"/>
            <a:r>
              <a:rPr lang="en-US" dirty="0"/>
              <a:t>       frontier ← INSERT(node, frontier)</a:t>
            </a:r>
          </a:p>
          <a:p>
            <a:pPr lvl="0"/>
            <a:r>
              <a:rPr lang="en-US" dirty="0"/>
              <a:t>       explored ← an empty set</a:t>
            </a:r>
          </a:p>
          <a:p>
            <a:pPr lvl="0"/>
            <a:r>
              <a:rPr lang="en-US" dirty="0"/>
              <a:t>       loop do</a:t>
            </a:r>
          </a:p>
          <a:p>
            <a:pPr lvl="0"/>
            <a:r>
              <a:rPr lang="en-US" dirty="0"/>
              <a:t>	if EMPTY?(frontier) then return failure</a:t>
            </a:r>
          </a:p>
          <a:p>
            <a:pPr lvl="0"/>
            <a:r>
              <a:rPr lang="en-US" dirty="0"/>
              <a:t>	node ← POP(frontier)</a:t>
            </a:r>
          </a:p>
          <a:p>
            <a:pPr lvl="0"/>
            <a:r>
              <a:rPr lang="en-US" dirty="0"/>
              <a:t>	if </a:t>
            </a:r>
            <a:r>
              <a:rPr lang="en-US" dirty="0" err="1"/>
              <a:t>problem.GOAL</a:t>
            </a:r>
            <a:r>
              <a:rPr lang="en-US" dirty="0"/>
              <a:t>-TEST(</a:t>
            </a:r>
            <a:r>
              <a:rPr lang="en-US" dirty="0" err="1"/>
              <a:t>node.STATE</a:t>
            </a:r>
            <a:r>
              <a:rPr lang="en-US" dirty="0"/>
              <a:t>) then return SOLUTION(node)</a:t>
            </a:r>
          </a:p>
          <a:p>
            <a:pPr lvl="0"/>
            <a:r>
              <a:rPr lang="en-US" dirty="0"/>
              <a:t>	add </a:t>
            </a:r>
            <a:r>
              <a:rPr lang="en-US" dirty="0" err="1"/>
              <a:t>node.STATE</a:t>
            </a:r>
            <a:r>
              <a:rPr lang="en-US" dirty="0"/>
              <a:t> to explored</a:t>
            </a:r>
          </a:p>
          <a:p>
            <a:pPr lvl="0"/>
            <a:r>
              <a:rPr lang="en-US" dirty="0"/>
              <a:t>	for each action in </a:t>
            </a:r>
            <a:r>
              <a:rPr lang="en-US" dirty="0" err="1"/>
              <a:t>problem.ACTIONS</a:t>
            </a:r>
            <a:r>
              <a:rPr lang="en-US" dirty="0"/>
              <a:t>(</a:t>
            </a:r>
            <a:r>
              <a:rPr lang="en-US" dirty="0" err="1"/>
              <a:t>node.STATE</a:t>
            </a:r>
            <a:r>
              <a:rPr lang="en-US" dirty="0"/>
              <a:t>) do</a:t>
            </a:r>
          </a:p>
          <a:p>
            <a:pPr lvl="0"/>
            <a:r>
              <a:rPr lang="en-US" dirty="0"/>
              <a:t>	       child ← CHILD-NODE(problem, node, action)</a:t>
            </a:r>
          </a:p>
          <a:p>
            <a:pPr lvl="0"/>
            <a:r>
              <a:rPr lang="en-US" dirty="0"/>
              <a:t>	       if IS-DEADLOCK(</a:t>
            </a:r>
            <a:r>
              <a:rPr lang="en-US" dirty="0" err="1"/>
              <a:t>child.STATE</a:t>
            </a:r>
            <a:r>
              <a:rPr lang="en-US" dirty="0"/>
              <a:t>) then continue if </a:t>
            </a:r>
            <a:r>
              <a:rPr lang="en-US" dirty="0" err="1"/>
              <a:t>child.STATE</a:t>
            </a:r>
            <a:r>
              <a:rPr lang="en-US" dirty="0"/>
              <a:t> is not in explored or frontier then</a:t>
            </a:r>
          </a:p>
          <a:p>
            <a:pPr lvl="0"/>
            <a:r>
              <a:rPr lang="en-US" dirty="0"/>
              <a:t>		frontier ← INSERT(child, frontier)</a:t>
            </a:r>
          </a:p>
          <a:p>
            <a:pPr lvl="0"/>
            <a:r>
              <a:rPr lang="en-US" dirty="0"/>
              <a:t>	       else if </a:t>
            </a:r>
            <a:r>
              <a:rPr lang="en-US" dirty="0" err="1"/>
              <a:t>child.STATE</a:t>
            </a:r>
            <a:r>
              <a:rPr lang="en-US" dirty="0"/>
              <a:t> is in frontier with higher PATH-COST then</a:t>
            </a:r>
          </a:p>
          <a:p>
            <a:pPr lvl="0"/>
            <a:r>
              <a:rPr lang="en-US" dirty="0"/>
              <a:t>		replace that frontier node with child</a:t>
            </a:r>
            <a:endParaRPr lang="en-US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577158-C51F-6E9A-47F5-B01CE5538876}"/>
              </a:ext>
            </a:extLst>
          </p:cNvPr>
          <p:cNvSpPr txBox="1"/>
          <p:nvPr/>
        </p:nvSpPr>
        <p:spPr>
          <a:xfrm>
            <a:off x="196643" y="5399917"/>
            <a:ext cx="879003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b="1" dirty="0">
                <a:effectLst/>
                <a:latin typeface="Arial"/>
              </a:rPr>
              <a:t>Key Implementation Highlights:</a:t>
            </a:r>
            <a:endParaRPr lang="en-US" dirty="0">
              <a:effectLst/>
              <a:latin typeface="Arial"/>
            </a:endParaRPr>
          </a:p>
          <a:p>
            <a:pPr marL="0" marR="0" lvl="0" indent="-342900"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Arial"/>
              </a:rPr>
              <a:t>Graph-Search Integrity:</a:t>
            </a:r>
            <a:r>
              <a:rPr lang="en-US" dirty="0">
                <a:effectLst/>
                <a:latin typeface="Arial"/>
              </a:rPr>
              <a:t> Uses explored set and frontier lookup to avoid redundant cyclical explorations. </a:t>
            </a:r>
          </a:p>
          <a:p>
            <a:pPr marL="0" marR="0" lvl="0" indent="-342900"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Arial"/>
              </a:rPr>
              <a:t>Static Pruning:</a:t>
            </a:r>
            <a:r>
              <a:rPr lang="en-US" dirty="0">
                <a:effectLst/>
                <a:latin typeface="Arial"/>
              </a:rPr>
              <a:t> IS-DEADLOCK eliminates non-goal corner and wall entrapments prior to frontier insertion, saving significant memory. </a:t>
            </a:r>
            <a:endParaRPr lang="en-US" dirty="0">
              <a:effectLst/>
              <a:latin typeface="Google Sans Tex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83668CC-6C64-FDD3-583C-9E290A7E15F4}"/>
              </a:ext>
            </a:extLst>
          </p:cNvPr>
          <p:cNvCxnSpPr>
            <a:cxnSpLocks/>
          </p:cNvCxnSpPr>
          <p:nvPr/>
        </p:nvCxnSpPr>
        <p:spPr>
          <a:xfrm rot="16200000">
            <a:off x="2803180" y="2837621"/>
            <a:ext cx="0" cy="50292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8220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109E6C4D-1033-37AD-53CD-F8CCE20A7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EAC6E0A1-4289-5D2F-DB50-2D0D37347E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6895" y="586966"/>
            <a:ext cx="661021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dirty="0"/>
              <a:t>Empirical Evaluation: UCS vs. A*Search</a:t>
            </a:r>
            <a:endParaRPr dirty="0"/>
          </a:p>
        </p:txBody>
      </p:sp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AE539491-9255-873A-BE33-AB930B2378B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486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3" name="Google Shape;60;p13">
            <a:extLst>
              <a:ext uri="{FF2B5EF4-FFF2-40B4-BE49-F238E27FC236}">
                <a16:creationId xmlns:a16="http://schemas.microsoft.com/office/drawing/2014/main" id="{728FB5C9-B07E-194B-724C-FF36DA2CB0A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524541"/>
            <a:ext cx="1266895" cy="76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51D407-3BC2-A7D2-1EB1-6C972D0E48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049" y="1790699"/>
            <a:ext cx="6703518" cy="31109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2CE8972-76DB-2794-9851-CCD4E80D4604}"/>
                  </a:ext>
                </a:extLst>
              </p:cNvPr>
              <p:cNvSpPr txBox="1"/>
              <p:nvPr/>
            </p:nvSpPr>
            <p:spPr>
              <a:xfrm>
                <a:off x="297049" y="5129498"/>
                <a:ext cx="8502821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-342900">
                  <a:buFont typeface="Arial" panose="020B0604020202020204" pitchFamily="34" charset="0"/>
                  <a:buChar char="•"/>
                </a:pPr>
                <a:r>
                  <a:rPr lang="en-US" b="1" dirty="0">
                    <a:effectLst/>
                    <a:latin typeface="Arial"/>
                  </a:rPr>
                  <a:t>Cost Optimality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i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b="1" dirty="0">
                    <a:effectLst/>
                    <a:latin typeface="Arial"/>
                  </a:rPr>
                  <a:t> Match):</a:t>
                </a:r>
                <a:r>
                  <a:rPr lang="en-US" dirty="0">
                    <a:effectLst/>
                    <a:latin typeface="Arial"/>
                  </a:rPr>
                  <a:t> Both UCS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>
                    <a:effectLst/>
                    <a:latin typeface="Arial"/>
                  </a:rPr>
                  <a:t>find identical optimal costs across all benchmarks (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,13,18,34</m:t>
                    </m:r>
                  </m:oMath>
                </a14:m>
                <a:r>
                  <a:rPr lang="en-US" dirty="0">
                    <a:effectLst/>
                    <a:latin typeface="Arial"/>
                  </a:rPr>
                  <a:t> steps), proving heuristic admissibility. </a:t>
                </a:r>
              </a:p>
              <a:p>
                <a:pPr marL="0" marR="0" lvl="0" indent="-342900">
                  <a:buFont typeface="Arial" panose="020B0604020202020204" pitchFamily="34" charset="0"/>
                  <a:buChar char="•"/>
                </a:pPr>
                <a:r>
                  <a:rPr lang="en-US" b="1" dirty="0">
                    <a:effectLst/>
                    <a:latin typeface="Arial"/>
                  </a:rPr>
                  <a:t>Search Space Pruning:</a:t>
                </a:r>
                <a:r>
                  <a:rPr lang="en-US" dirty="0">
                    <a:effectLst/>
                    <a:latin typeface="Arial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>
                    <a:effectLst/>
                    <a:latin typeface="Arial"/>
                  </a:rPr>
                  <a:t>drastically reduces expanded nodes as maze complexity scales (</a:t>
                </a:r>
                <a:r>
                  <a:rPr lang="en-US" b="1" dirty="0">
                    <a:effectLst/>
                    <a:latin typeface="Arial"/>
                  </a:rPr>
                  <a:t>1.6x</a:t>
                </a:r>
                <a:r>
                  <a:rPr lang="en-US" dirty="0">
                    <a:effectLst/>
                    <a:latin typeface="Arial"/>
                  </a:rPr>
                  <a:t> on Easy 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b="1" dirty="0">
                    <a:effectLst/>
                    <a:latin typeface="Arial"/>
                  </a:rPr>
                  <a:t>6.2x</a:t>
                </a:r>
                <a:r>
                  <a:rPr lang="en-US" dirty="0">
                    <a:effectLst/>
                    <a:latin typeface="Arial"/>
                  </a:rPr>
                  <a:t> on Hard 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b="1" dirty="0">
                    <a:effectLst/>
                    <a:latin typeface="Arial"/>
                  </a:rPr>
                  <a:t>4.2x</a:t>
                </a:r>
                <a:r>
                  <a:rPr lang="en-US" dirty="0">
                    <a:effectLst/>
                    <a:latin typeface="Arial"/>
                  </a:rPr>
                  <a:t> on Sample). </a:t>
                </a:r>
              </a:p>
              <a:p>
                <a:pPr marL="0" marR="0" lvl="0" indent="-342900">
                  <a:buFont typeface="Arial" panose="020B0604020202020204" pitchFamily="34" charset="0"/>
                  <a:buChar char="•"/>
                </a:pPr>
                <a:r>
                  <a:rPr lang="en-US" b="1" dirty="0">
                    <a:effectLst/>
                    <a:latin typeface="Arial"/>
                  </a:rPr>
                  <a:t>Execution Scalability:</a:t>
                </a:r>
                <a:r>
                  <a:rPr lang="en-US" dirty="0">
                    <a:effectLst/>
                    <a:latin typeface="Arial"/>
                  </a:rPr>
                  <a:t> On Sample map,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>
                    <a:effectLst/>
                    <a:latin typeface="Arial"/>
                  </a:rPr>
                  <a:t>reaches the target in </a:t>
                </a:r>
                <a:r>
                  <a:rPr lang="en-US" b="1" dirty="0">
                    <a:effectLst/>
                    <a:latin typeface="Arial"/>
                  </a:rPr>
                  <a:t>0.67s</a:t>
                </a:r>
                <a:r>
                  <a:rPr lang="en-US" dirty="0">
                    <a:effectLst/>
                    <a:latin typeface="Arial"/>
                  </a:rPr>
                  <a:t> (vs. 1.03s for UCS) while bounding frontier memory. </a:t>
                </a:r>
                <a:endParaRPr lang="en-US" dirty="0">
                  <a:effectLst/>
                  <a:latin typeface="Google Sans Text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2CE8972-76DB-2794-9851-CCD4E80D4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049" y="5129498"/>
                <a:ext cx="8502821" cy="1384995"/>
              </a:xfrm>
              <a:prstGeom prst="rect">
                <a:avLst/>
              </a:prstGeom>
              <a:blipFill>
                <a:blip r:embed="rId5"/>
                <a:stretch>
                  <a:fillRect l="-215" t="-439" b="-3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3031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8F2721D3-D624-E264-FDB0-6A847F63C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95BF0B5F-B68E-35A7-2C0C-7B8F4D49BE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50702" y="342630"/>
            <a:ext cx="7572306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Competitive Two-Agent Engine &amp; Decision Strategy</a:t>
            </a:r>
            <a:endParaRPr dirty="0"/>
          </a:p>
        </p:txBody>
      </p:sp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8F17B58B-35C9-0933-FE4B-48E26A2C918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486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3" name="Google Shape;60;p13">
            <a:extLst>
              <a:ext uri="{FF2B5EF4-FFF2-40B4-BE49-F238E27FC236}">
                <a16:creationId xmlns:a16="http://schemas.microsoft.com/office/drawing/2014/main" id="{4963CA9B-38AC-9819-7FDD-32E338499D8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524541"/>
            <a:ext cx="1266895" cy="7635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80B688-6692-FB1A-45F6-433DE3D60A40}"/>
                  </a:ext>
                </a:extLst>
              </p:cNvPr>
              <p:cNvSpPr txBox="1"/>
              <p:nvPr/>
            </p:nvSpPr>
            <p:spPr>
              <a:xfrm>
                <a:off x="103239" y="1737370"/>
                <a:ext cx="3220064" cy="37856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R="0" lvl="0"/>
                <a:r>
                  <a:rPr lang="en-US" sz="1600" b="1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Simultaneous Execution: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Both agents select actions simultaneously within a </a:t>
                </a:r>
                <a:r>
                  <a:rPr lang="en-US" sz="1600" b="1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1,000 </a:t>
                </a:r>
                <a:r>
                  <a:rPr lang="en-US" sz="1600" b="1" dirty="0" err="1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ms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time constraint. </a:t>
                </a:r>
              </a:p>
              <a:p>
                <a:pPr marR="0" lvl="0"/>
                <a:endParaRPr lang="en-US" sz="1600" b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R="0" lvl="0"/>
                <a:r>
                  <a:rPr lang="en-US" sz="1600" b="1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Collision Handling: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Mutual movement into the same cell cancels displacement (both stand still). </a:t>
                </a:r>
              </a:p>
              <a:p>
                <a:pPr marR="0" lvl="0"/>
                <a:endParaRPr lang="en-US" sz="1600" b="1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R="0" lvl="0"/>
                <a:r>
                  <a:rPr lang="en-US" sz="1600" b="1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Stealing &amp; Ownership: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Scored boxes belong to the scoring agent; pushing an opponent's box off goal resets it to neutral. </a:t>
                </a:r>
              </a:p>
              <a:p>
                <a:pPr marR="0" lvl="0"/>
                <a:endParaRPr lang="en-US" sz="1600" dirty="0"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R="0" lvl="0"/>
                <a:r>
                  <a:rPr lang="en-US" sz="1600" b="1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Limit:</a:t>
                </a:r>
                <a:r>
                  <a:rPr lang="en-US" sz="16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Terminated after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600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user-input steps; highest score wins.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80B688-6692-FB1A-45F6-433DE3D60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39" y="1737370"/>
                <a:ext cx="3220064" cy="3785652"/>
              </a:xfrm>
              <a:prstGeom prst="rect">
                <a:avLst/>
              </a:prstGeom>
              <a:blipFill>
                <a:blip r:embed="rId4"/>
                <a:stretch>
                  <a:fillRect l="-1136" t="-483" r="-1326" b="-1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60F883CD-ED5B-59F4-0CE2-ECBD62AD92AE}"/>
              </a:ext>
            </a:extLst>
          </p:cNvPr>
          <p:cNvSpPr txBox="1"/>
          <p:nvPr/>
        </p:nvSpPr>
        <p:spPr>
          <a:xfrm>
            <a:off x="3220064" y="1737370"/>
            <a:ext cx="6071419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COMPETITIVE-AGENT(state) returns an action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start_time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← CURRENT-TIME()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OPPONENT-BOX-ON-GOAL?(state) then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path ← BFS-PATH(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my_pos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steal_push_pos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obstacles)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path is not empty then return FIRST(path)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UNPLACED-BOXES?(state) then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(box, goal) ← FIND-BEST-PAIR(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unplaced_boxes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free_goals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path ← BFS-PATH(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my_pos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push_pos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obstacles)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path is not empty then return FIRST(path)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(CURRENT-TIME() -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start_time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&lt; 0.8s then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ALPHA-BETA-SEARCH(state, depth = 2)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"Stay"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6DBC4B6-894B-874E-C060-01688DCABCAF}"/>
              </a:ext>
            </a:extLst>
          </p:cNvPr>
          <p:cNvCxnSpPr/>
          <p:nvPr/>
        </p:nvCxnSpPr>
        <p:spPr>
          <a:xfrm>
            <a:off x="3254476" y="1737370"/>
            <a:ext cx="0" cy="402336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0320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>
          <a:extLst>
            <a:ext uri="{FF2B5EF4-FFF2-40B4-BE49-F238E27FC236}">
              <a16:creationId xmlns:a16="http://schemas.microsoft.com/office/drawing/2014/main" id="{FCFD503B-96D8-918D-8D4E-776B93554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1368A0B6-300A-5D9B-D4B7-7A2F821EE6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6895" y="586966"/>
            <a:ext cx="7621466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-US" dirty="0"/>
              <a:t>System Evaluation</a:t>
            </a:r>
            <a:endParaRPr dirty="0"/>
          </a:p>
        </p:txBody>
      </p:sp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E144A0DB-725C-5A1D-1112-39432BD12AA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486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3" name="Google Shape;60;p13">
            <a:extLst>
              <a:ext uri="{FF2B5EF4-FFF2-40B4-BE49-F238E27FC236}">
                <a16:creationId xmlns:a16="http://schemas.microsoft.com/office/drawing/2014/main" id="{86DF6AD4-45E3-BB31-4334-C5464D53843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524541"/>
            <a:ext cx="1266895" cy="7635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234486-9DF4-D784-0A34-B27DABBAE4DF}"/>
                  </a:ext>
                </a:extLst>
              </p:cNvPr>
              <p:cNvSpPr txBox="1"/>
              <p:nvPr/>
            </p:nvSpPr>
            <p:spPr>
              <a:xfrm>
                <a:off x="383458" y="1777404"/>
                <a:ext cx="8377084" cy="45560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1600" b="1" dirty="0"/>
                  <a:t>Strengths:</a:t>
                </a:r>
              </a:p>
              <a:p>
                <a:pPr lvl="0"/>
                <a:endParaRPr lang="en-US" sz="1600" dirty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Accurate geometric heuristic avoids dead ends without violating Manhattan/Euclidean restrictions.</a:t>
                </a: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endParaRPr lang="en-US" sz="1600" dirty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Modular multi-agent architecture cleanly separates game referee from agent decision scripts. </a:t>
                </a: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endParaRPr lang="en-US" sz="1600" dirty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Responsive </a:t>
                </a:r>
                <a:r>
                  <a:rPr lang="en-US" sz="1600" dirty="0" err="1"/>
                  <a:t>Pygame</a:t>
                </a:r>
                <a:r>
                  <a:rPr lang="en-US" sz="1600" dirty="0"/>
                  <a:t> GUI with complete playback control: Space (Pause/Resume), → (Forward), ← (Backward). </a:t>
                </a:r>
              </a:p>
              <a:p>
                <a:pPr lvl="1"/>
                <a:endParaRPr lang="en-US" sz="1600" dirty="0"/>
              </a:p>
              <a:p>
                <a:pPr lvl="0"/>
                <a:r>
                  <a:rPr lang="en-US" sz="1600" b="1" dirty="0"/>
                  <a:t>Trade-offs &amp; Future Work:</a:t>
                </a:r>
              </a:p>
              <a:p>
                <a:pPr lvl="0"/>
                <a:endParaRPr lang="en-US" sz="1600" dirty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Hungarian matching complexity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160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1600" dirty="0"/>
                  <a:t>introduces per-node calculation overhead on many boxes. </a:t>
                </a:r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endParaRPr lang="en-US" sz="1600" dirty="0"/>
              </a:p>
              <a:p>
                <a:pPr marL="285750" lvl="1" indent="-285750">
                  <a:buFont typeface="Arial" panose="020B0604020202020204" pitchFamily="34" charset="0"/>
                  <a:buChar char="•"/>
                </a:pPr>
                <a:r>
                  <a:rPr lang="en-US" sz="1600" dirty="0"/>
                  <a:t>Adversarial agent can be extended with Simultaneous Monte Carlo Tree Search (MCTS) for longer lookahead.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234486-9DF4-D784-0A34-B27DABBAE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458" y="1777404"/>
                <a:ext cx="8377084" cy="4556055"/>
              </a:xfrm>
              <a:prstGeom prst="rect">
                <a:avLst/>
              </a:prstGeom>
              <a:blipFill>
                <a:blip r:embed="rId4"/>
                <a:stretch>
                  <a:fillRect l="-437" t="-402" b="-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781311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1015</Words>
  <Application>Microsoft Office PowerPoint</Application>
  <PresentationFormat>On-screen Show (4:3)</PresentationFormat>
  <Paragraphs>126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Cambria Math</vt:lpstr>
      <vt:lpstr>Google Sans Text</vt:lpstr>
      <vt:lpstr>Times New Roman</vt:lpstr>
      <vt:lpstr>Simple Light</vt:lpstr>
      <vt:lpstr>PowerPoint Presentation</vt:lpstr>
      <vt:lpstr>Team Members &amp; Contribution Rates</vt:lpstr>
      <vt:lpstr>Single-Agent Search &amp; Non-Manhattan Heuristic</vt:lpstr>
      <vt:lpstr>A*Graph Search with Deadlock Pruning</vt:lpstr>
      <vt:lpstr>Empirical Evaluation: UCS vs. A*Search</vt:lpstr>
      <vt:lpstr>Competitive Two-Agent Engine &amp; Decision Strategy</vt:lpstr>
      <vt:lpstr>System Evaluation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phú lê</cp:lastModifiedBy>
  <cp:revision>8</cp:revision>
  <cp:lastPrinted>2026-10-02T01:08:12Z</cp:lastPrinted>
  <dcterms:modified xsi:type="dcterms:W3CDTF">2026-10-02T12:58:32Z</dcterms:modified>
</cp:coreProperties>
</file>